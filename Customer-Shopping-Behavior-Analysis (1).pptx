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Inter Black"/>
      <p:regular r:id="rId201317"/>
    </p:embeddedFont>
    <p:embeddedFont>
      <p:font typeface="Petrona"/>
      <p:regular r:id="rId201318"/>
    </p:embeddedFont>
    <p:embeddedFont>
      <p:font typeface="Petrona SemiBold"/>
      <p:regular r:id="rId201319"/>
    </p:embeddedFont>
    <p:embeddedFont>
      <p:font typeface="Petrona Bold"/>
      <p:regular r:id="rId201320"/>
    </p:embeddedFont>
    <p:embeddedFont>
      <p:font typeface="Petrona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64581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Analysis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388848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product categories to guide strategic business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859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at a Glance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59842"/>
            <a:ext cx="5319083" cy="5319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487" y="3204270"/>
            <a:ext cx="5319083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20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 Purchases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17487" y="3406477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columns spanning demographics, purchase details, and shopping behavior.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217487" y="3562350"/>
            <a:ext cx="531908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Genders · 4 Categories · 50 Locations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purchase: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$59.76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age: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44 years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 missing values in Review Rating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12366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Preparation in Python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61475" y="2216051"/>
            <a:ext cx="3053877" cy="1721445"/>
          </a:xfrm>
          <a:prstGeom prst="roundRect">
            <a:avLst>
              <a:gd name="adj" fmla="val 4612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411413"/>
            <a:ext cx="266316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 &amp; Standardize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56832" y="2834878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missing Review Ratings; renamed columns to snake_case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216051"/>
            <a:ext cx="3053976" cy="1721445"/>
          </a:xfrm>
          <a:prstGeom prst="roundRect">
            <a:avLst>
              <a:gd name="adj" fmla="val 4612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411413"/>
            <a:ext cx="266326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099715" y="2834878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age_group and purchase_frequency_days columns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126508"/>
            <a:ext cx="6296860" cy="1419027"/>
          </a:xfrm>
          <a:prstGeom prst="roundRect">
            <a:avLst>
              <a:gd name="adj" fmla="val 5595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321870"/>
            <a:ext cx="59061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 Load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56832" y="474533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to PostgreSQL; loaded cleaned DataFrame for SQL analysis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&amp; Spending Insights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2.1x more revenue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females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839 customers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used discounts yet spent above average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averaged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$60.48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Standard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$58.46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Products by Rating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Discount-Dependent Products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with the highest share of discounted purchases: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2955826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 —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50%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discounted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Sneakers —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49.66%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Coat —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49.07%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Sweater —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48.17%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Pants —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47.37%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3077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Behavior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895773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27%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755702"/>
            <a:ext cx="53162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Subscribers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1475" y="3179167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1,053 customers · Avg spend $59.49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1895773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73%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2755702"/>
            <a:ext cx="53163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Non-Subscribers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213915" y="3179167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2,847 customers · Avg spend $59.87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3954066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$62.6K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61475" y="4813995"/>
            <a:ext cx="53162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Subscriber Revenue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61475" y="5237460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 from subscribers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3915" y="3954066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$170K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13915" y="4813995"/>
            <a:ext cx="53163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Non-Subscriber Revenue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213915" y="5237460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 from non-subscribers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7525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customers with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5+ purchases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958 subscribed vs. 2,518 who did not — repeat buyers are more likely to subscribe.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Segment Definitions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3,116 customers (80%)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701 customers (18%)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83 customers (2%)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735388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2F1D6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022130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952677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 customers dominate — focus on retention and upsell programs.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Age Group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 Group Insights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Young Adults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 in total revenue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is relatively evenly distributed across all groups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marketing should focus on high-revenue age segments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93602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Products by Category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91842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38513"/>
            <a:ext cx="253993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Accessories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61475" y="4561979"/>
            <a:ext cx="25399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Jewelry · Sunglasses · Belt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991842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4138513"/>
            <a:ext cx="254003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Clothing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3437645" y="4561979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Blouse · Pants · Shirt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991842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4138513"/>
            <a:ext cx="254003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Footwear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6213915" y="4561979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Sandals · Shoes · Sneakers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991842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4138513"/>
            <a:ext cx="254003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Outerwear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990184" y="4561979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Jacket · Coat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2026-09-07T12:17:55Z</dcterms:created>
  <dcterms:modified xsi:type="dcterms:W3CDTF">2026-09-07T12:17:55Z</dcterms:modified>
</cp:coreProperties>
</file>